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9" r:id="rId11"/>
    <p:sldId id="270" r:id="rId12"/>
    <p:sldId id="271" r:id="rId13"/>
    <p:sldId id="272" r:id="rId14"/>
    <p:sldId id="273" r:id="rId15"/>
    <p:sldId id="274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78" d="100"/>
          <a:sy n="78" d="100"/>
        </p:scale>
        <p:origin x="38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69A-3101-923D-73BF-C6A8B1CE5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F1438-4FD0-BBB0-3E05-97A9E682B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D994E-1998-3607-9E28-6D49A76B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4EB7C-FD1B-A8CF-ED12-FD32D33E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A8440-2026-198E-7028-9DE44F97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99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E272F-24F8-072E-E11B-EFB959CE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A7DFC-E0E6-B766-09CE-5D03CE9D3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71519-5447-0D79-E824-ACC5D1A5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9C8AD-999F-C154-4FF1-689BCD4E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10138-AB85-8D6F-9A6D-49CBEC9B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03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B07C-D85F-F252-A8ED-4E319085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DF853-5DDC-1EE3-292E-9001CDB5F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71516-FFFD-187C-42D9-18C16F538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86100-FA77-2AF1-6F27-C196F244D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0D5E9-BEDA-79A3-F95A-FCBDE59B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29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1B4C6-94E3-1BEF-9EA4-FC2A4B978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5C0E1-2976-7195-5275-E9F9DA274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B1B49-72E2-CBED-AF34-CBECAEA41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EE1C0-CD4D-74BC-0539-2E1FD6434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6FCA1-D1CB-95B7-1C15-7FB45DB0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DC3FE-0371-BBC1-23E9-AF005C76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63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07E42-F23F-C1C1-556E-DD22F9D3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B3E5A-84C6-EB0F-DF4F-DCB3F9CE0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42F12-DB00-3CFC-B4C1-A26554819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02FA45-E873-E7B3-A8FE-B770282D4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EBDFA-27E7-DAF4-D418-EE8CF1BFD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530DC-95F0-32F9-09C5-B0566D94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2D55C6-9345-BF47-4789-79E91BEBC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8BA916-3D55-8435-8DBC-9AC967F9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87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6B2FC-B6A4-0D5E-6531-58FAC68D8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4B9DE3-968E-51E7-3EC3-4ACB19C6B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C6E84-25DC-954A-89BB-936F4DD44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676D0-6471-9640-CC5C-D4C5F9398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16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A6DE3-D0AB-4722-83A7-07F38369F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6030D-1ED9-8F1E-F977-0622FF8B7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4D200-B6E9-45DD-29C4-7AE140D7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15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98620-D2AA-DACC-B41B-270EC837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50C73-FC8F-C4F8-EA3F-C87748989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5C06C-A7CE-00C2-EE0C-6494F1C6B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B41F4-137B-42CA-8F43-AE239918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4C3F5-057A-C1BF-00A3-1ACBEC5F5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F8EEE-AA01-5EF4-DCD2-F5B15603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758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93FA-A46A-02C3-CC99-4F6ADC1C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8894AC-D685-FE97-3B31-592C31437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4DC7F-1ECD-1B77-1B46-B46B560C4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1499D-4758-201A-A999-61E1BA0A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9D794-455C-8F16-FE09-6C7229925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977A8-4E91-BC61-083A-79E04A1D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810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8D480-4926-9EF0-6F70-9CCEBA40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06DE9-ADF4-B5E5-4A44-4D558AC2A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671BE-052E-A47D-0E03-52C60C36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BF37C-04BC-35F7-C10B-3F552FE9C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3DCD3-F600-FF02-F890-C9D57D583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406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73BEB5-3C13-2FB8-E9E3-B251C9458E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A2973-9F08-47D2-A22A-285564DDF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58799-1C40-BA9F-2D64-9DA0AC5EC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E5F3-2A74-4CB7-89F3-8DA21791A15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31C28-BDCF-6E21-F2AA-33FB1AA6A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5C9C7-593D-12EC-F38A-AB7B4E429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132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91DCD5-F451-4449-CF42-CB80ADD3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CB32C-5135-6E45-54E6-83BEC5788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89E3D-484F-A933-8C69-72BF75012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2E5F3-2A74-4CB7-89F3-8DA21791A15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15A46-73BB-9E0F-0CDB-FF9C800AF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35813-A512-657D-0ADC-1CEBC2E49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8C39C-967F-4F5D-B02F-B4E07AE8C5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40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867228B7-565B-F13E-A100-60ABF6F8B31F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127820"/>
            <a:ext cx="120904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ADD363-1108-7B6E-0DD5-E6A8B0E5D370}"/>
              </a:ext>
            </a:extLst>
          </p:cNvPr>
          <p:cNvSpPr txBox="1"/>
          <p:nvPr/>
        </p:nvSpPr>
        <p:spPr>
          <a:xfrm>
            <a:off x="546100" y="1535131"/>
            <a:ext cx="11163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Real-Time Eye Strain and Screen Safety Monitoring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483B6-38DB-97AF-D601-CAB499ECEBC2}"/>
              </a:ext>
            </a:extLst>
          </p:cNvPr>
          <p:cNvSpPr txBox="1"/>
          <p:nvPr/>
        </p:nvSpPr>
        <p:spPr>
          <a:xfrm>
            <a:off x="2332662" y="2842923"/>
            <a:ext cx="6105832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DSA0216-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Vison for Open cv for Modern AI</a:t>
            </a:r>
            <a:endParaRPr lang="en-IN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53C66-DE0C-949C-C901-6DCAB026E155}"/>
              </a:ext>
            </a:extLst>
          </p:cNvPr>
          <p:cNvSpPr txBox="1"/>
          <p:nvPr/>
        </p:nvSpPr>
        <p:spPr>
          <a:xfrm>
            <a:off x="7703574" y="4591899"/>
            <a:ext cx="61058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0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Presented by</a:t>
            </a:r>
          </a:p>
          <a:p>
            <a:pPr marL="365125" lvl="1">
              <a:spcBef>
                <a:spcPts val="55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VINAY KUMAR REDDY(192424245)</a:t>
            </a:r>
          </a:p>
          <a:p>
            <a:pPr marL="365125" lvl="1">
              <a:spcBef>
                <a:spcPts val="55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J.NIVAS(192424238)</a:t>
            </a:r>
            <a:r>
              <a:rPr lang="en-US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</a:t>
            </a:r>
          </a:p>
          <a:p>
            <a:pPr marL="365125" lvl="1">
              <a:spcBef>
                <a:spcPts val="550"/>
              </a:spcBef>
            </a:pPr>
            <a:r>
              <a:rPr lang="en-US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A.ABHISHEK REDDY(192424192)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lvl="1">
              <a:spcBef>
                <a:spcPts val="550"/>
              </a:spcBef>
            </a:pPr>
            <a:r>
              <a:rPr lang="en-US" sz="1800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Saveetha School of Engineering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BDD0DF-A9AD-E6A0-F9A2-CCD420466206}"/>
              </a:ext>
            </a:extLst>
          </p:cNvPr>
          <p:cNvSpPr txBox="1"/>
          <p:nvPr/>
        </p:nvSpPr>
        <p:spPr>
          <a:xfrm>
            <a:off x="0" y="4301614"/>
            <a:ext cx="6912076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>
              <a:spcBef>
                <a:spcPts val="550"/>
              </a:spcBef>
            </a:pPr>
            <a:endParaRPr lang="en-US" sz="2000" b="1" dirty="0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365125" lvl="1">
              <a:spcBef>
                <a:spcPts val="550"/>
              </a:spcBef>
            </a:pPr>
            <a:r>
              <a:rPr lang="en-US" sz="20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Supervisor</a:t>
            </a:r>
            <a:r>
              <a:rPr lang="en-US" sz="18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	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DR.S. Senthilvadivu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Dr.T. Kumaragurubaran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503050405090304"/>
                <a:cs typeface="Times New Roman" panose="02020603050405020304" pitchFamily="18" charset="0"/>
                <a:sym typeface="Times New Roman" panose="02020503050405090304"/>
              </a:rPr>
              <a:t>      </a:t>
            </a:r>
            <a:r>
              <a:rPr lang="en-US" sz="1800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Dept of CSE</a:t>
            </a:r>
          </a:p>
          <a:p>
            <a:r>
              <a:rPr lang="en-US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     </a:t>
            </a:r>
            <a:r>
              <a:rPr lang="en-US" sz="1800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Saveetha School of Engineering </a:t>
            </a:r>
          </a:p>
        </p:txBody>
      </p:sp>
    </p:spTree>
    <p:extLst>
      <p:ext uri="{BB962C8B-B14F-4D97-AF65-F5344CB8AC3E}">
        <p14:creationId xmlns:p14="http://schemas.microsoft.com/office/powerpoint/2010/main" val="98451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25EC4E9F-142B-E0E9-7317-E77D5834DF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02D8F232-4A2A-78DF-3DAF-0BC88E41E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95B28E-909D-4680-0636-756185665F12}"/>
              </a:ext>
            </a:extLst>
          </p:cNvPr>
          <p:cNvSpPr txBox="1"/>
          <p:nvPr/>
        </p:nvSpPr>
        <p:spPr>
          <a:xfrm>
            <a:off x="2863155" y="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Introduction</a:t>
            </a:r>
            <a:endParaRPr lang="en-IN" sz="5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409F31-0162-9FB1-E6E7-0CB94504DB2E}"/>
              </a:ext>
            </a:extLst>
          </p:cNvPr>
          <p:cNvSpPr txBox="1"/>
          <p:nvPr/>
        </p:nvSpPr>
        <p:spPr>
          <a:xfrm>
            <a:off x="135876" y="1227728"/>
            <a:ext cx="7130164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Nowadays people use computers and mobiles for many hours, which causes eye problems.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checks the eyes continuously using a webcam.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detects blinking and distance from the screen.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user does not blink or sits too close, it gives a warning.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users protect their eyes and use screens safely.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3DAA2B-8301-DD5A-EED8-700F454A0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490" y="2162854"/>
            <a:ext cx="4249312" cy="342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77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20C73-5411-10EA-31A5-5197CC38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214234C0-D655-A68F-DF28-2DAD1757B7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43E874B2-C270-1CBE-4163-91294E7E5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BEE365-38D9-EB2B-5ED7-6739EA787B48}"/>
              </a:ext>
            </a:extLst>
          </p:cNvPr>
          <p:cNvSpPr txBox="1"/>
          <p:nvPr/>
        </p:nvSpPr>
        <p:spPr>
          <a:xfrm>
            <a:off x="2733367" y="47856"/>
            <a:ext cx="6892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Proposed </a:t>
            </a:r>
            <a:r>
              <a:rPr lang="en-IN" sz="5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3392D-C066-859B-C0F0-7B682FB2BEE1}"/>
              </a:ext>
            </a:extLst>
          </p:cNvPr>
          <p:cNvSpPr txBox="1"/>
          <p:nvPr/>
        </p:nvSpPr>
        <p:spPr>
          <a:xfrm>
            <a:off x="643124" y="1868130"/>
            <a:ext cx="8101781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detect eye blinking using a webcam.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eye strain caused by less blinking.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measure the distance between the user and the screen.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give alerts when the user needs to take a break.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maintain healthy screen usage habits.</a:t>
            </a:r>
          </a:p>
        </p:txBody>
      </p:sp>
    </p:spTree>
    <p:extLst>
      <p:ext uri="{BB962C8B-B14F-4D97-AF65-F5344CB8AC3E}">
        <p14:creationId xmlns:p14="http://schemas.microsoft.com/office/powerpoint/2010/main" val="287881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E7225-CB5F-0D34-61FB-8BA17723B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4AD5943D-4389-491E-1FA8-6AA2FB93B6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3FBB0619-6FEE-1ADE-7052-A0E353671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91B09-52AD-D4D2-763F-89CEE343DED5}"/>
              </a:ext>
            </a:extLst>
          </p:cNvPr>
          <p:cNvSpPr txBox="1"/>
          <p:nvPr/>
        </p:nvSpPr>
        <p:spPr>
          <a:xfrm>
            <a:off x="2863155" y="4785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954331B-773B-BBB1-24AC-E7FA6A2D3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298159"/>
              </p:ext>
            </p:extLst>
          </p:nvPr>
        </p:nvGraphicFramePr>
        <p:xfrm>
          <a:off x="639096" y="1561123"/>
          <a:ext cx="10913808" cy="501392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28452">
                  <a:extLst>
                    <a:ext uri="{9D8B030D-6E8A-4147-A177-3AD203B41FA5}">
                      <a16:colId xmlns:a16="http://schemas.microsoft.com/office/drawing/2014/main" val="561396817"/>
                    </a:ext>
                  </a:extLst>
                </a:gridCol>
                <a:gridCol w="2728452">
                  <a:extLst>
                    <a:ext uri="{9D8B030D-6E8A-4147-A177-3AD203B41FA5}">
                      <a16:colId xmlns:a16="http://schemas.microsoft.com/office/drawing/2014/main" val="3642363041"/>
                    </a:ext>
                  </a:extLst>
                </a:gridCol>
                <a:gridCol w="2728452">
                  <a:extLst>
                    <a:ext uri="{9D8B030D-6E8A-4147-A177-3AD203B41FA5}">
                      <a16:colId xmlns:a16="http://schemas.microsoft.com/office/drawing/2014/main" val="4253420508"/>
                    </a:ext>
                  </a:extLst>
                </a:gridCol>
                <a:gridCol w="2728452">
                  <a:extLst>
                    <a:ext uri="{9D8B030D-6E8A-4147-A177-3AD203B41FA5}">
                      <a16:colId xmlns:a16="http://schemas.microsoft.com/office/drawing/2014/main" val="1806139348"/>
                    </a:ext>
                  </a:extLst>
                </a:gridCol>
              </a:tblGrid>
              <a:tr h="232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Major Findings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564653847"/>
                  </a:ext>
                </a:extLst>
              </a:tr>
              <a:tr h="91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Eye Blink Detection Using Computer Vision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Kumar, S. Patel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Eye Aspect Ratio (EAR) with facial landmarks to detect blink rate accurately in real time.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683824971"/>
                  </a:ext>
                </a:extLst>
              </a:tr>
              <a:tr h="91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Eye Fatigue Detection System Based on CNN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Sharma, N. Verma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CNN-based model to identify eye fatigue from eye images with improved detection accuracy.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1170369739"/>
                  </a:ext>
                </a:extLst>
              </a:tr>
              <a:tr h="1086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Gaze Tracking and Screen Distance Estimation Using Webcam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Singh, M. Kaur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gaze tracking system to monitor screen distance and head position using facial landmark detection.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164762025"/>
                  </a:ext>
                </a:extLst>
              </a:tr>
              <a:tr h="91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Drowsiness and Eye Strain Monitoring Using Deep Learning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Reddy, K. Rao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deep learning with blink rate analysis to detect early signs of eye strain and fatigue.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1452590304"/>
                  </a:ext>
                </a:extLst>
              </a:tr>
              <a:tr h="91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Screen Safety Monitoring System with Voice Alerts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Kumar, R. Mehta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eye tracking, distance measurement, and real-time voice alerts to improve user safety.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1471010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574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A1269-BC59-B746-2CA2-BBE503C2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F63347CC-078A-303D-662C-E82CD4E555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6FE0B16C-2D15-3D2F-5C91-18D9AC9DB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B50B4B-BDE8-289D-8534-8A3D35A3BB88}"/>
              </a:ext>
            </a:extLst>
          </p:cNvPr>
          <p:cNvSpPr txBox="1"/>
          <p:nvPr/>
        </p:nvSpPr>
        <p:spPr>
          <a:xfrm>
            <a:off x="2654710" y="47856"/>
            <a:ext cx="73250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B6210C-8A97-97B0-E4D6-B4C8B49D653D}"/>
              </a:ext>
            </a:extLst>
          </p:cNvPr>
          <p:cNvSpPr txBox="1"/>
          <p:nvPr/>
        </p:nvSpPr>
        <p:spPr>
          <a:xfrm>
            <a:off x="643124" y="1799303"/>
            <a:ext cx="9558731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only check sleepiness, not eye strain from screen use.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only measure blinking but do not check screen distance.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all systems give quick alerts to the user.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do not work properly in low light.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very few simple and low-cost solutions for daily use.</a:t>
            </a:r>
          </a:p>
        </p:txBody>
      </p:sp>
    </p:spTree>
    <p:extLst>
      <p:ext uri="{BB962C8B-B14F-4D97-AF65-F5344CB8AC3E}">
        <p14:creationId xmlns:p14="http://schemas.microsoft.com/office/powerpoint/2010/main" val="706241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0C89-251C-5CDB-ED7C-BF1B537D3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6F3429FC-C151-68E0-16D1-1EDCDAFA31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4" name="object 5" descr="object 5">
            <a:extLst>
              <a:ext uri="{FF2B5EF4-FFF2-40B4-BE49-F238E27FC236}">
                <a16:creationId xmlns:a16="http://schemas.microsoft.com/office/drawing/2014/main" id="{90B53A73-4F34-CBAD-2F23-F4601548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69F64D-BB93-8E8D-8525-5D0C484CFDDE}"/>
              </a:ext>
            </a:extLst>
          </p:cNvPr>
          <p:cNvSpPr txBox="1"/>
          <p:nvPr/>
        </p:nvSpPr>
        <p:spPr>
          <a:xfrm>
            <a:off x="2458064" y="-11138"/>
            <a:ext cx="7275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48B41B-8915-B7CF-7917-82CA1CC87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122" y="898832"/>
            <a:ext cx="8938752" cy="595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80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69CC8-ED64-EE38-10BA-DC18FF97A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5C7D4BA0-9B25-5F9D-3257-E305FD5FFD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5EC24CD3-6EB6-95FB-F94C-9DB2ACCAE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162A6E-9C6D-F2F9-6FBC-73E5E086ADD9}"/>
              </a:ext>
            </a:extLst>
          </p:cNvPr>
          <p:cNvSpPr txBox="1"/>
          <p:nvPr/>
        </p:nvSpPr>
        <p:spPr>
          <a:xfrm>
            <a:off x="2863155" y="4785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138A48-28BE-81F0-C2F4-F611B22FDF60}"/>
              </a:ext>
            </a:extLst>
          </p:cNvPr>
          <p:cNvSpPr txBox="1"/>
          <p:nvPr/>
        </p:nvSpPr>
        <p:spPr>
          <a:xfrm>
            <a:off x="796412" y="1342898"/>
            <a:ext cx="7511845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1:Eye Blink Rate Detection &amp; Fatigue Analysis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46B18-9D81-C3EF-F88C-BA7333EAB026}"/>
              </a:ext>
            </a:extLst>
          </p:cNvPr>
          <p:cNvSpPr txBox="1"/>
          <p:nvPr/>
        </p:nvSpPr>
        <p:spPr>
          <a:xfrm>
            <a:off x="353961" y="2038036"/>
            <a:ext cx="10317976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webcam captures the user’s eye movements in real time.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the eyes using computer vision.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calculates how many times the user blinks per minute.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blink rate is very low, it means the eyes may be getting tired.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eye fatigue and sends the information to the alert module.</a:t>
            </a:r>
          </a:p>
        </p:txBody>
      </p:sp>
    </p:spTree>
    <p:extLst>
      <p:ext uri="{BB962C8B-B14F-4D97-AF65-F5344CB8AC3E}">
        <p14:creationId xmlns:p14="http://schemas.microsoft.com/office/powerpoint/2010/main" val="1013968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11718-08B2-69A8-E3AA-805E80743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9BA97038-2302-4539-A4AE-8308102BEA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A418D1CD-88FF-DC71-7A00-7A085B228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30C19C-5C73-CBC6-4E2B-3EF8C1057A5C}"/>
              </a:ext>
            </a:extLst>
          </p:cNvPr>
          <p:cNvSpPr txBox="1"/>
          <p:nvPr/>
        </p:nvSpPr>
        <p:spPr>
          <a:xfrm>
            <a:off x="383458" y="1540908"/>
            <a:ext cx="11425084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Gaze Tracking &amp; Screen Distance Monitoring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tracks where the user is looking using the webcam.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checks if the user is continuously staring at the screen.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measures the distance between the user and the screen.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user sits too close, it detects unsafe screen distance.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sends this information to the alert module for warning.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3994A9-177F-7898-5A61-75F12767CDDB}"/>
              </a:ext>
            </a:extLst>
          </p:cNvPr>
          <p:cNvSpPr txBox="1"/>
          <p:nvPr/>
        </p:nvSpPr>
        <p:spPr>
          <a:xfrm>
            <a:off x="2863155" y="16323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387175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A54A6-9AFA-F6ED-4C9F-00078FDB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0B91E132-2347-2F7A-A442-A67B2FD450A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A1E25616-5694-9D52-ACD8-91FB3E503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A597FD-437D-AFCB-97B2-EBAB97DCDAB0}"/>
              </a:ext>
            </a:extLst>
          </p:cNvPr>
          <p:cNvSpPr txBox="1"/>
          <p:nvPr/>
        </p:nvSpPr>
        <p:spPr>
          <a:xfrm>
            <a:off x="508329" y="1754022"/>
            <a:ext cx="10805652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Multilingual Voice Alert and User Notification System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gives alerts to the user when eye strain is detected.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voice warnings if the user blinks less or sits too close to the screen.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give alerts in different languages.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shows text notifications on the screen.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aim is to remind the user to take breaks and maintain safe screen distance.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70253-421B-1E8E-DE0B-28E71CA7F825}"/>
              </a:ext>
            </a:extLst>
          </p:cNvPr>
          <p:cNvSpPr txBox="1"/>
          <p:nvPr/>
        </p:nvSpPr>
        <p:spPr>
          <a:xfrm>
            <a:off x="2863155" y="1610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3289225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0E3DF607-70ED-500E-D5B4-E22862564A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A843A583-D104-998F-B5DC-F2EC81CED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D65459-BFED-E690-AD86-6ED408CDA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79006"/>
            <a:ext cx="5978013" cy="51102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F69B92-90C1-A5FA-A022-8FC436261A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79006"/>
            <a:ext cx="6096001" cy="511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09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D3F86-E1B6-BB73-D6C8-75FA0BB81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75C0B71B-BDA8-61E9-E69E-0C0F36861B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71CB4027-0621-085C-36AE-83552C161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7D360F-C888-ED7B-CE3B-B323FEC00775}"/>
              </a:ext>
            </a:extLst>
          </p:cNvPr>
          <p:cNvSpPr txBox="1"/>
          <p:nvPr/>
        </p:nvSpPr>
        <p:spPr>
          <a:xfrm>
            <a:off x="2782529" y="4785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069F94-00C8-6063-A705-110716F673FD}"/>
              </a:ext>
            </a:extLst>
          </p:cNvPr>
          <p:cNvSpPr txBox="1"/>
          <p:nvPr/>
        </p:nvSpPr>
        <p:spPr>
          <a:xfrm>
            <a:off x="334297" y="1533833"/>
            <a:ext cx="9969909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detected eye blinking in real time.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correctly identified low blink rate and signs of eye fatigue.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screen distance was measured accurately using the webcam.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gave voice and text alerts when unsafe conditions were detected.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helped in promoting safe and healthy screen usage.</a:t>
            </a:r>
          </a:p>
        </p:txBody>
      </p:sp>
    </p:spTree>
    <p:extLst>
      <p:ext uri="{BB962C8B-B14F-4D97-AF65-F5344CB8AC3E}">
        <p14:creationId xmlns:p14="http://schemas.microsoft.com/office/powerpoint/2010/main" val="306778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2B4CC-1C63-A66C-0481-482FED26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730AD210-901A-D918-DBDD-FB8A94A226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030C219A-7921-2A99-792F-E13851995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7435E6-924F-A6AF-D859-C06DD741E307}"/>
              </a:ext>
            </a:extLst>
          </p:cNvPr>
          <p:cNvSpPr txBox="1"/>
          <p:nvPr/>
        </p:nvSpPr>
        <p:spPr>
          <a:xfrm>
            <a:off x="2625212" y="120975"/>
            <a:ext cx="74430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C731A4-D0B4-95D1-CB2B-73ACB97D77B4}"/>
              </a:ext>
            </a:extLst>
          </p:cNvPr>
          <p:cNvSpPr txBox="1"/>
          <p:nvPr/>
        </p:nvSpPr>
        <p:spPr>
          <a:xfrm>
            <a:off x="324465" y="1602658"/>
            <a:ext cx="8819535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not work properly in low lighting conditions.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can reduce if the face is not clearly visible to the webcam.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may not give exact distance measurement all the time.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webcam usage may consume system resources.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depends on camera quality for better performance</a:t>
            </a:r>
          </a:p>
        </p:txBody>
      </p:sp>
    </p:spTree>
    <p:extLst>
      <p:ext uri="{BB962C8B-B14F-4D97-AF65-F5344CB8AC3E}">
        <p14:creationId xmlns:p14="http://schemas.microsoft.com/office/powerpoint/2010/main" val="1161969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CFA93-3CB0-6884-0F3D-D3ED5975C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9942AEF9-8DED-EA9F-061D-8227E81D52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22F645A4-FC38-235A-79BC-06C07694D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9014FF-6E63-0938-719D-AB70D3FF16EE}"/>
              </a:ext>
            </a:extLst>
          </p:cNvPr>
          <p:cNvSpPr txBox="1"/>
          <p:nvPr/>
        </p:nvSpPr>
        <p:spPr>
          <a:xfrm>
            <a:off x="2546555" y="4785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6EC8A-5C1E-AFAD-C168-EC0B990263D4}"/>
              </a:ext>
            </a:extLst>
          </p:cNvPr>
          <p:cNvSpPr txBox="1"/>
          <p:nvPr/>
        </p:nvSpPr>
        <p:spPr>
          <a:xfrm>
            <a:off x="442452" y="1602658"/>
            <a:ext cx="10156722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improved with higher accuracy using advanced AI models.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be developed as a mobile application.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be integrated with laptops and smart devices.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health features like posture detection can be added.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in schools and offices to promote eye safety.</a:t>
            </a:r>
          </a:p>
        </p:txBody>
      </p:sp>
    </p:spTree>
    <p:extLst>
      <p:ext uri="{BB962C8B-B14F-4D97-AF65-F5344CB8AC3E}">
        <p14:creationId xmlns:p14="http://schemas.microsoft.com/office/powerpoint/2010/main" val="559635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52D34-18C2-AAE3-7F59-2E80A4E3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700ACAC4-43CF-2033-8BDE-1213CD7F68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3606BDEA-386B-1DB7-1417-43E769F96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22ADE8-4187-480A-B57E-A66451169BFB}"/>
              </a:ext>
            </a:extLst>
          </p:cNvPr>
          <p:cNvSpPr txBox="1"/>
          <p:nvPr/>
        </p:nvSpPr>
        <p:spPr>
          <a:xfrm>
            <a:off x="2674374" y="4785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E9E85-2D67-7234-2A75-B77B93C8A378}"/>
              </a:ext>
            </a:extLst>
          </p:cNvPr>
          <p:cNvSpPr txBox="1"/>
          <p:nvPr/>
        </p:nvSpPr>
        <p:spPr>
          <a:xfrm>
            <a:off x="973393" y="1423585"/>
            <a:ext cx="8760541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helps in monitoring eye strain during screen usage.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detects blink rate and screen distance in real time.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gives alerts to protect the user’s eyes.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 simple and low-cost solution.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it promotes healthy and safe screen habits.</a:t>
            </a:r>
          </a:p>
        </p:txBody>
      </p:sp>
    </p:spTree>
    <p:extLst>
      <p:ext uri="{BB962C8B-B14F-4D97-AF65-F5344CB8AC3E}">
        <p14:creationId xmlns:p14="http://schemas.microsoft.com/office/powerpoint/2010/main" val="4290187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01FA8-BEB6-C859-057F-A1D1BEDFF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4AEFD388-D423-DC25-9591-D119CC589C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75" y="47856"/>
            <a:ext cx="1014499" cy="1179871"/>
          </a:xfrm>
          <a:prstGeom prst="rect">
            <a:avLst/>
          </a:prstGeom>
        </p:spPr>
      </p:pic>
      <p:pic>
        <p:nvPicPr>
          <p:cNvPr id="3" name="object 5" descr="object 5">
            <a:extLst>
              <a:ext uri="{FF2B5EF4-FFF2-40B4-BE49-F238E27FC236}">
                <a16:creationId xmlns:a16="http://schemas.microsoft.com/office/drawing/2014/main" id="{F1F7A84B-A04C-7111-C670-F90092E93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183B84-B9C0-DF69-5677-E259B4078379}"/>
              </a:ext>
            </a:extLst>
          </p:cNvPr>
          <p:cNvSpPr txBox="1"/>
          <p:nvPr/>
        </p:nvSpPr>
        <p:spPr>
          <a:xfrm>
            <a:off x="2231922" y="12996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References</a:t>
            </a:r>
            <a:endParaRPr lang="en-IN" sz="5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1F959-B6B4-8E03-78B0-C0AADA1037A4}"/>
              </a:ext>
            </a:extLst>
          </p:cNvPr>
          <p:cNvSpPr txBox="1"/>
          <p:nvPr/>
        </p:nvSpPr>
        <p:spPr>
          <a:xfrm>
            <a:off x="643124" y="1559208"/>
            <a:ext cx="10628671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U. Dhankar and A. Kumar, “Real-Time Eye Wellness Monitoring Using Computer Vision,” International Journal of Computer Vision Applications, vol. 14, no. 2, pp. 45–52, 2025.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R. Mehta and P. Sharma, “Intelligent Screen Safety System for Eye Health,” Journal of Artificial Intelligence and Healthcare, vol. 9, no. 1, pp. 101–108, 2025.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N. Gupta and S. Verma, “AI-Based Eye Strain Detection Using Webcam,” International Journal of Advanced Computing Research, vol. 18, no. 3, pp. 210–218, 2025.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A. A. Jiman et al., “Eye Blinking Monitoring System for Computer Users,” Journal of Eye Movement Research, vol. 17, no. 5, pp. 1–10, 2024.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P. Singh and M. Kaur, “Gaze Tracking and Screen Distance Estimation Using Facial Landmarks,” Journal of Computer Vision and Image Processing, vol. 12, no. 4, pp. 150–158, 2024.</a:t>
            </a:r>
          </a:p>
        </p:txBody>
      </p:sp>
    </p:spTree>
    <p:extLst>
      <p:ext uri="{BB962C8B-B14F-4D97-AF65-F5344CB8AC3E}">
        <p14:creationId xmlns:p14="http://schemas.microsoft.com/office/powerpoint/2010/main" val="828320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3A986-59F6-C58A-BB37-88062BBC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91,900+ Thank You Stock Photos, Pictures &amp; Royalty-Free Images - iStock |  Thank you card, Appreciation, Gratitude">
            <a:extLst>
              <a:ext uri="{FF2B5EF4-FFF2-40B4-BE49-F238E27FC236}">
                <a16:creationId xmlns:a16="http://schemas.microsoft.com/office/drawing/2014/main" id="{2F38719D-D710-07BC-953D-6D5DC7537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20684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491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1062</Words>
  <Application>Microsoft Office PowerPoint</Application>
  <PresentationFormat>Widescreen</PresentationFormat>
  <Paragraphs>108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abhishekreedy ankireddy</dc:creator>
  <cp:lastModifiedBy>abhishekreedy ankireddy</cp:lastModifiedBy>
  <cp:revision>14</cp:revision>
  <dcterms:created xsi:type="dcterms:W3CDTF">2026-02-11T03:50:46Z</dcterms:created>
  <dcterms:modified xsi:type="dcterms:W3CDTF">2026-02-17T07:35:39Z</dcterms:modified>
</cp:coreProperties>
</file>